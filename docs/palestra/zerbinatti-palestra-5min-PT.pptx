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-s1-cover-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0"/>
            <a:ext cx="12191695" cy="4800600"/>
          </a:xfrm>
          <a:prstGeom prst="rect">
            <a:avLst/>
          </a:prstGeom>
        </p:spPr>
      </p:pic>
      <p:pic>
        <p:nvPicPr>
          <p:cNvPr id="6" name="Picture 5" descr="zerbinatti-wordmark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447" y="411480"/>
            <a:ext cx="1828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500">
                <a:solidFill>
                  <a:srgbClr val="DDC8A0"/>
                </a:solidFill>
                <a:latin typeface="Inter"/>
              </a:rPr>
              <a:t>VALIM FARMS  ·  SÃO PAULO  ·  BRASIL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5806440"/>
            <a:ext cx="2133295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spc="400">
                <a:solidFill>
                  <a:srgbClr val="C9A961"/>
                </a:solidFill>
                <a:latin typeface="Inter"/>
              </a:rPr>
              <a:t>WILSON LUIZ VALIM ZERBINATTI  ·  TERCEIRA GERAÇÃO  ·  1897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-s2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A0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500">
                <a:solidFill>
                  <a:srgbClr val="C9A961"/>
                </a:solidFill>
                <a:latin typeface="Inter"/>
              </a:rPr>
              <a:t>— LINHAGEM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Três gerações.</a:t>
            </a:r>
          </a:p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Uma terra.</a:t>
            </a:r>
          </a:p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Um café.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4160520"/>
            <a:ext cx="64008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0" y="44348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CECEC"/>
                </a:solidFill>
                <a:latin typeface="Inter"/>
              </a:rPr>
              <a:t>Família italiana chegou em São Paulo em 1897. Plantou. Esperou. Aprendeu. Hoje sou eu, Wilson Luiz Valim Zerbinatti, o terceiro a tocar o cafezal. O sobrenome Zerbinatti virou marca — mas continua sendo o que era: pessoas que escutam a terra.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5897880"/>
            <a:ext cx="5029200" cy="0"/>
          </a:xfrm>
          <a:prstGeom prst="line">
            <a:avLst/>
          </a:prstGeom>
          <a:ln w="63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0" y="6035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DDC8A0"/>
                </a:solidFill>
                <a:latin typeface="Inter"/>
              </a:rPr>
              <a:t>129 ANOS  ·  TRÊS GERAÇÕES  ·  UMA ÚNICA ORIGEM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-s3-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495" y="0"/>
            <a:ext cx="7315200" cy="6858000"/>
          </a:xfrm>
          <a:prstGeom prst="rect">
            <a:avLst/>
          </a:prstGeom>
        </p:spPr>
      </p:pic>
      <p:pic>
        <p:nvPicPr>
          <p:cNvPr id="4" name="Picture 3" descr="grad-lr-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95" y="0"/>
            <a:ext cx="32004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0A0A0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500">
                <a:solidFill>
                  <a:srgbClr val="C9A961"/>
                </a:solidFill>
                <a:latin typeface="Inter"/>
              </a:rPr>
              <a:t>— A TERRA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1">
                <a:solidFill>
                  <a:srgbClr val="ECECEC"/>
                </a:solidFill>
                <a:latin typeface="Cormorant Garamond"/>
              </a:rPr>
              <a:t>Onde tudo</a:t>
            </a:r>
          </a:p>
          <a:p>
            <a:pPr algn="l">
              <a:lnSpc>
                <a:spcPct val="105000"/>
              </a:lnSpc>
            </a:pPr>
            <a:r>
              <a:rPr sz="5200" b="0" i="1">
                <a:solidFill>
                  <a:srgbClr val="ECECEC"/>
                </a:solidFill>
                <a:latin typeface="Cormorant Garamond"/>
              </a:rPr>
              <a:t>acontece sozinho.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65760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LOCALIZAÇÃO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07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Valim Farms, SP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06908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ALTITUDE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14223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640 – 760 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448056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5537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Vulcânico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489204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4983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VARIEDADES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651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Arara · Paraíso 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30352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394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PROCESSO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37667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Natural, ao sol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71500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COLHEITA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7881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Manual, cereja madura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12648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8A7342"/>
                </a:solidFill>
                <a:latin typeface="Inter"/>
              </a:rPr>
              <a:t>— CERTIFICAÇÕES</a:t>
            </a:r>
          </a:p>
        </p:txBody>
      </p:sp>
      <p:pic>
        <p:nvPicPr>
          <p:cNvPr id="28" name="Picture 27" descr="selo-c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6263640"/>
            <a:ext cx="502920" cy="502920"/>
          </a:xfrm>
          <a:prstGeom prst="rect">
            <a:avLst/>
          </a:prstGeom>
        </p:spPr>
      </p:pic>
      <p:pic>
        <p:nvPicPr>
          <p:cNvPr id="29" name="Picture 28" descr="selo-sca-90-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570" y="6263640"/>
            <a:ext cx="502920" cy="502920"/>
          </a:xfrm>
          <a:prstGeom prst="rect">
            <a:avLst/>
          </a:prstGeom>
        </p:spPr>
      </p:pic>
      <p:pic>
        <p:nvPicPr>
          <p:cNvPr id="30" name="Picture 29" descr="selo-organico-fazen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870" y="6263640"/>
            <a:ext cx="502920" cy="502920"/>
          </a:xfrm>
          <a:prstGeom prst="rect">
            <a:avLst/>
          </a:prstGeom>
        </p:spPr>
      </p:pic>
      <p:pic>
        <p:nvPicPr>
          <p:cNvPr id="31" name="Picture 30" descr="selo-bras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170" y="62636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8A7342"/>
                </a:solidFill>
                <a:latin typeface="Inter"/>
              </a:rPr>
              <a:t>ZERBINATTI  ·  BRAND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1">
                <a:solidFill>
                  <a:srgbClr val="C9A961"/>
                </a:solidFill>
                <a:latin typeface="Cormorant Garamond"/>
              </a:rPr>
              <a:t>Famiglia · since 1897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C9A961"/>
                </a:solidFill>
                <a:latin typeface="Inter"/>
              </a:rPr>
              <a:t>— VALIM FARMS  ·  TERROIR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ECECEC"/>
                </a:solidFill>
                <a:latin typeface="Cormorant Garamond"/>
              </a:rPr>
              <a:t>Uma fazenda.</a:t>
            </a:r>
          </a:p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ECECEC"/>
                </a:solidFill>
                <a:latin typeface="Cormorant Garamond"/>
              </a:rPr>
              <a:t>Um clima inteiro.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9164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CECEC"/>
                </a:solidFill>
                <a:latin typeface="Inter"/>
              </a:rPr>
              <a:t>A Valim Farms fica em terraços naturais entre 640 e 760 metros, com solo vulcânico, invernos secos e uma janela de maturação longa e lenta. Duas variedades arábica — Arara e Paraíso 2 — plantadas à mão e colhidas só na cereja madura.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108960"/>
            <a:ext cx="10908792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crop-s4-photo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840480" cy="2926080"/>
          </a:xfrm>
          <a:prstGeom prst="rect">
            <a:avLst/>
          </a:prstGeom>
        </p:spPr>
      </p:pic>
      <p:pic>
        <p:nvPicPr>
          <p:cNvPr id="10" name="Picture 9" descr="crop-s4-photo-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83280"/>
            <a:ext cx="3200400" cy="1417320"/>
          </a:xfrm>
          <a:prstGeom prst="rect">
            <a:avLst/>
          </a:prstGeom>
        </p:spPr>
      </p:pic>
      <p:pic>
        <p:nvPicPr>
          <p:cNvPr id="11" name="Picture 10" descr="crop-s4-photo-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892040"/>
            <a:ext cx="320040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55279" y="3383280"/>
            <a:ext cx="3593592" cy="2926080"/>
          </a:xfrm>
          <a:prstGeom prst="rect">
            <a:avLst/>
          </a:prstGeom>
          <a:solidFill>
            <a:srgbClr val="0A0A0A"/>
          </a:solidFill>
          <a:ln w="6350">
            <a:solidFill>
              <a:srgbClr val="8A7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CECEC"/>
                </a:solidFill>
                <a:latin typeface="Cormorant Garamond"/>
              </a:rPr>
              <a:t>O terroir.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1605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ECECEC"/>
                </a:solidFill>
                <a:latin typeface="Inter"/>
              </a:rPr>
              <a:t>Solo vulcânico, encostas em terraço, manhãs frias, invernos secos. A terra faz o trabalho — a gente só não atrapalha.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79" y="5349240"/>
            <a:ext cx="310896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79" y="5532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760m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852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ALTITUDE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5532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5852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VARIEDADES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989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6309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ARÁBICA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5989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Mai-Set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6309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COLHEITA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O CAFÉ JÁ ATRAVESSA OCEANOS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i="1">
                <a:solidFill>
                  <a:srgbClr val="ECECEC"/>
                </a:solidFill>
                <a:latin typeface="Cormorant Garamond"/>
              </a:rPr>
              <a:t>Hoje, três bandeiras.</a:t>
            </a:r>
          </a:p>
          <a:p>
            <a:pPr algn="l">
              <a:lnSpc>
                <a:spcPct val="110000"/>
              </a:lnSpc>
            </a:pPr>
            <a:r>
              <a:rPr sz="4200" b="0" i="1">
                <a:solidFill>
                  <a:srgbClr val="ECECEC"/>
                </a:solidFill>
                <a:latin typeface="Cormorant Garamond"/>
              </a:rPr>
              <a:t>O sonho é Oregon.</a:t>
            </a:r>
          </a:p>
        </p:txBody>
      </p:sp>
      <p:pic>
        <p:nvPicPr>
          <p:cNvPr id="5" name="Picture 4" descr="world-map-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560320"/>
            <a:ext cx="10515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DDC8A0"/>
                </a:solidFill>
                <a:latin typeface="Inter"/>
              </a:rPr>
              <a:t>PRESENÇA  ·  EXPANSÃO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dial-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A PROVA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ECECEC"/>
                </a:solidFill>
                <a:latin typeface="Cormorant Garamond"/>
              </a:rPr>
              <a:t>Os números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ECECEC"/>
                </a:solidFill>
                <a:latin typeface="Cormorant Garamond"/>
              </a:rPr>
              <a:t>que importam.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0" b="0" i="1">
                <a:solidFill>
                  <a:srgbClr val="8A7342"/>
                </a:solidFill>
                <a:latin typeface="Cormorant Garamond"/>
              </a:rPr>
              <a:t>[ ___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500">
                <a:solidFill>
                  <a:srgbClr val="ECECEC"/>
                </a:solidFill>
                <a:latin typeface="Inter"/>
              </a:rPr>
              <a:t>SACAS /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DDC8A0"/>
                </a:solidFill>
                <a:latin typeface="Cormorant Garamond"/>
              </a:rPr>
              <a:t>Produção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0" y="3383280"/>
            <a:ext cx="0" cy="292608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33832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C9A961"/>
                </a:solidFill>
                <a:latin typeface="Cormorant Garamond"/>
              </a:rPr>
              <a:t>20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EMBARQUE ESPANHA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87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Embarque programado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6168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8A7342"/>
                </a:solidFill>
                <a:latin typeface="Cormorant Garamond"/>
              </a:rPr>
              <a:t>[ __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10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PONTUAÇÃO SCAA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Cup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4009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C9A961"/>
                </a:solidFill>
                <a:latin typeface="Cormorant Garamond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8887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MICROLOTE RASTREÁVEL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144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Origem garantida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ying-yard-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99238"/>
            <a:ext cx="12191695" cy="196564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MEU PRÓXIMO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161288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0" b="0" i="1">
                <a:solidFill>
                  <a:srgbClr val="C9A961"/>
                </a:solidFill>
                <a:latin typeface="Cormorant Garamond"/>
              </a:rPr>
              <a:t>Estados Unidos.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5029200"/>
            <a:ext cx="3047695" cy="0"/>
          </a:xfrm>
          <a:prstGeom prst="line">
            <a:avLst/>
          </a:prstGeom>
          <a:ln w="127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5212080"/>
            <a:ext cx="94484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ECECEC"/>
                </a:solidFill>
                <a:latin typeface="Cormorant Garamond"/>
              </a:rPr>
              <a:t>Deixaria de exportar para a Europa</a:t>
            </a:r>
          </a:p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ECECEC"/>
                </a:solidFill>
                <a:latin typeface="Cormorant Garamond"/>
              </a:rPr>
              <a:t>para enfim chegar aqui.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400">
                <a:solidFill>
                  <a:srgbClr val="DDC8A0"/>
                </a:solidFill>
                <a:latin typeface="Inter"/>
              </a:rPr>
              <a:t>WILSON LUIZ VALIM ZERBINATTI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neir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89651"/>
            <a:ext cx="12191695" cy="102373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289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1">
                <a:solidFill>
                  <a:srgbClr val="ECECEC"/>
                </a:solidFill>
                <a:latin typeface="Cormorant Garamond"/>
              </a:rPr>
              <a:t>“A terra ensina, o sol decide,</a:t>
            </a:r>
          </a:p>
          <a:p>
            <a:pPr algn="ctr">
              <a:lnSpc>
                <a:spcPct val="130000"/>
              </a:lnSpc>
            </a:pPr>
            <a:r>
              <a:rPr sz="3600" b="0" i="1">
                <a:solidFill>
                  <a:srgbClr val="ECECEC"/>
                </a:solidFill>
                <a:latin typeface="Cormorant Garamond"/>
              </a:rPr>
              <a:t>a gente apenas observa.”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154680"/>
            <a:ext cx="210312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0" y="3154680"/>
            <a:ext cx="210312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6023152" y="3081528"/>
            <a:ext cx="146304" cy="146304"/>
          </a:xfrm>
          <a:prstGeom prst="diamond">
            <a:avLst/>
          </a:prstGeom>
          <a:solidFill>
            <a:srgbClr val="C9A961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500">
                <a:solidFill>
                  <a:srgbClr val="C9A961"/>
                </a:solidFill>
                <a:latin typeface="Inter"/>
              </a:rPr>
              <a:t>— WILSON LUIZ VALIM ZERBINATTI  ·  TERCEIRA GERAÇÃO</a:t>
            </a:r>
          </a:p>
        </p:txBody>
      </p:sp>
      <p:pic>
        <p:nvPicPr>
          <p:cNvPr id="10" name="Picture 9" descr="qr-zerbin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7" y="4023360"/>
            <a:ext cx="192024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DDC8A0"/>
                </a:solidFill>
                <a:latin typeface="Inter"/>
              </a:rPr>
              <a:t>@ZERBINATTICOFFEE  ·  ZERBINATTICOFFEE.COM</a:t>
            </a:r>
          </a:p>
        </p:txBody>
      </p:sp>
      <p:pic>
        <p:nvPicPr>
          <p:cNvPr id="12" name="Picture 11" descr="zerbinatti-wordmark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5508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