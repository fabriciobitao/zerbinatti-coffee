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bg-upscal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01752"/>
            <a:ext cx="12191695" cy="1186150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ad-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57400"/>
            <a:ext cx="12191695" cy="4800600"/>
          </a:xfrm>
          <a:prstGeom prst="rect">
            <a:avLst/>
          </a:prstGeom>
        </p:spPr>
      </p:pic>
      <p:pic>
        <p:nvPicPr>
          <p:cNvPr id="6" name="Picture 5" descr="zerbinatti-wordmark-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447" y="411480"/>
            <a:ext cx="18288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219456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 spc="500">
                <a:solidFill>
                  <a:srgbClr val="DDC8A0"/>
                </a:solidFill>
                <a:latin typeface="Inter"/>
              </a:rPr>
              <a:t>VALIM FARMS  ·  SÃO PAULO  ·  BRAZIL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5806440"/>
            <a:ext cx="2133295" cy="0"/>
          </a:xfrm>
          <a:prstGeom prst="line">
            <a:avLst/>
          </a:prstGeom>
          <a:ln w="9525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 spc="400">
                <a:solidFill>
                  <a:srgbClr val="C9A961"/>
                </a:solidFill>
                <a:latin typeface="Inter"/>
              </a:rPr>
              <a:t>WILSON LUIZ VALIM ZERBINATTI  ·  THIRD GENERATION  ·  1897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-s2-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A0A0A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0" y="1097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500">
                <a:solidFill>
                  <a:srgbClr val="C9A961"/>
                </a:solidFill>
                <a:latin typeface="Inter"/>
              </a:rPr>
              <a:t>— LINEAGE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554480"/>
            <a:ext cx="54864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0" i="1">
                <a:solidFill>
                  <a:srgbClr val="ECECEC"/>
                </a:solidFill>
                <a:latin typeface="Cormorant Garamond"/>
              </a:rPr>
              <a:t>Three generations.</a:t>
            </a:r>
          </a:p>
          <a:p>
            <a:pPr algn="l">
              <a:lnSpc>
                <a:spcPct val="110000"/>
              </a:lnSpc>
            </a:pPr>
            <a:r>
              <a:rPr sz="5400" b="0" i="1">
                <a:solidFill>
                  <a:srgbClr val="ECECEC"/>
                </a:solidFill>
                <a:latin typeface="Cormorant Garamond"/>
              </a:rPr>
              <a:t>One land.</a:t>
            </a:r>
          </a:p>
          <a:p>
            <a:pPr algn="l">
              <a:lnSpc>
                <a:spcPct val="110000"/>
              </a:lnSpc>
            </a:pPr>
            <a:r>
              <a:rPr sz="5400" b="0" i="1">
                <a:solidFill>
                  <a:srgbClr val="ECECEC"/>
                </a:solidFill>
                <a:latin typeface="Cormorant Garamond"/>
              </a:rPr>
              <a:t>One coffee.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26480" y="4160520"/>
            <a:ext cx="640080" cy="0"/>
          </a:xfrm>
          <a:prstGeom prst="line">
            <a:avLst/>
          </a:prstGeom>
          <a:ln w="9525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26480" y="443484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CECEC"/>
                </a:solidFill>
                <a:latin typeface="Inter"/>
              </a:rPr>
              <a:t>An Italian family arrived in São Paulo in 1897. They planted. They waited. They learned. Today I am Wilson Luiz Valim Zerbinatti — the third to walk these coffee fields. The Zerbinatti surname became a brand, but it’s still what it always was: people who listen to the land.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0" y="5897880"/>
            <a:ext cx="5029200" cy="0"/>
          </a:xfrm>
          <a:prstGeom prst="line">
            <a:avLst/>
          </a:prstGeom>
          <a:ln w="635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26480" y="6035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DDC8A0"/>
                </a:solidFill>
                <a:latin typeface="Inter"/>
              </a:rPr>
              <a:t>129 YEARS  ·  THREE GENERATIONS  ·  ONE ORIGIN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-s3-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495" y="0"/>
            <a:ext cx="7315200" cy="6858000"/>
          </a:xfrm>
          <a:prstGeom prst="rect">
            <a:avLst/>
          </a:prstGeom>
        </p:spPr>
      </p:pic>
      <p:pic>
        <p:nvPicPr>
          <p:cNvPr id="4" name="Picture 3" descr="grad-lr-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895" y="0"/>
            <a:ext cx="32004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876495" y="0"/>
            <a:ext cx="7315200" cy="6858000"/>
          </a:xfrm>
          <a:prstGeom prst="rect">
            <a:avLst/>
          </a:prstGeom>
          <a:solidFill>
            <a:srgbClr val="0A0A0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 spc="500">
                <a:solidFill>
                  <a:srgbClr val="C9A961"/>
                </a:solidFill>
                <a:latin typeface="Inter"/>
              </a:rPr>
              <a:t>— THE LAND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029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0" i="1">
                <a:solidFill>
                  <a:srgbClr val="ECECEC"/>
                </a:solidFill>
                <a:latin typeface="Cormorant Garamond"/>
              </a:rPr>
              <a:t>Where everything</a:t>
            </a:r>
          </a:p>
          <a:p>
            <a:pPr algn="l">
              <a:lnSpc>
                <a:spcPct val="105000"/>
              </a:lnSpc>
            </a:pPr>
            <a:r>
              <a:rPr sz="5200" b="0" i="1">
                <a:solidFill>
                  <a:srgbClr val="ECECEC"/>
                </a:solidFill>
                <a:latin typeface="Cormorant Garamond"/>
              </a:rPr>
              <a:t>happens on its own.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3657600"/>
            <a:ext cx="5029200" cy="0"/>
          </a:xfrm>
          <a:prstGeom prst="line">
            <a:avLst/>
          </a:prstGeom>
          <a:ln w="6350">
            <a:solidFill>
              <a:srgbClr val="8A7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374904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400">
                <a:solidFill>
                  <a:srgbClr val="C9A961"/>
                </a:solidFill>
                <a:latin typeface="Inter"/>
              </a:rPr>
              <a:t>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73075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CECEC"/>
                </a:solidFill>
                <a:latin typeface="Cormorant Garamond"/>
              </a:rPr>
              <a:t>Valim Farms, SP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4069080"/>
            <a:ext cx="5029200" cy="0"/>
          </a:xfrm>
          <a:prstGeom prst="line">
            <a:avLst/>
          </a:prstGeom>
          <a:ln w="6350">
            <a:solidFill>
              <a:srgbClr val="8A7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41605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400">
                <a:solidFill>
                  <a:srgbClr val="C9A961"/>
                </a:solidFill>
                <a:latin typeface="Inter"/>
              </a:rPr>
              <a:t>ALTITUDE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414223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CECEC"/>
                </a:solidFill>
                <a:latin typeface="Cormorant Garamond"/>
              </a:rPr>
              <a:t>640 – 760 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4480560"/>
            <a:ext cx="5029200" cy="0"/>
          </a:xfrm>
          <a:prstGeom prst="line">
            <a:avLst/>
          </a:prstGeom>
          <a:ln w="6350">
            <a:solidFill>
              <a:srgbClr val="8A7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45720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400">
                <a:solidFill>
                  <a:srgbClr val="C9A961"/>
                </a:solidFill>
                <a:latin typeface="Inter"/>
              </a:rPr>
              <a:t>SOIL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55371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CECEC"/>
                </a:solidFill>
                <a:latin typeface="Cormorant Garamond"/>
              </a:rPr>
              <a:t>Volcanic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4892040"/>
            <a:ext cx="5029200" cy="0"/>
          </a:xfrm>
          <a:prstGeom prst="line">
            <a:avLst/>
          </a:prstGeom>
          <a:ln w="6350">
            <a:solidFill>
              <a:srgbClr val="8A7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49834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400">
                <a:solidFill>
                  <a:srgbClr val="C9A961"/>
                </a:solidFill>
                <a:latin typeface="Inter"/>
              </a:rPr>
              <a:t>VARIETIES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96519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CECEC"/>
                </a:solidFill>
                <a:latin typeface="Cormorant Garamond"/>
              </a:rPr>
              <a:t>Arara · Paraiso 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5303520"/>
            <a:ext cx="5029200" cy="0"/>
          </a:xfrm>
          <a:prstGeom prst="line">
            <a:avLst/>
          </a:prstGeom>
          <a:ln w="6350">
            <a:solidFill>
              <a:srgbClr val="8A7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539496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400">
                <a:solidFill>
                  <a:srgbClr val="C9A961"/>
                </a:solidFill>
                <a:latin typeface="Inter"/>
              </a:rPr>
              <a:t>PROCESS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37667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CECEC"/>
                </a:solidFill>
                <a:latin typeface="Cormorant Garamond"/>
              </a:rPr>
              <a:t>Natural, sun-dried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5715000"/>
            <a:ext cx="5029200" cy="0"/>
          </a:xfrm>
          <a:prstGeom prst="line">
            <a:avLst/>
          </a:prstGeom>
          <a:ln w="6350">
            <a:solidFill>
              <a:srgbClr val="8A7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580644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400">
                <a:solidFill>
                  <a:srgbClr val="C9A961"/>
                </a:solidFill>
                <a:latin typeface="Inter"/>
              </a:rPr>
              <a:t>HARVEST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578815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CECEC"/>
                </a:solidFill>
                <a:latin typeface="Cormorant Garamond"/>
              </a:rPr>
              <a:t>Hand-picked, ripe cherry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126480"/>
            <a:ext cx="5029200" cy="0"/>
          </a:xfrm>
          <a:prstGeom prst="line">
            <a:avLst/>
          </a:prstGeom>
          <a:ln w="6350">
            <a:solidFill>
              <a:srgbClr val="8A7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59893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400">
                <a:solidFill>
                  <a:srgbClr val="8A7342"/>
                </a:solidFill>
                <a:latin typeface="Inter"/>
              </a:rPr>
              <a:t>— CERTIFICATIONS</a:t>
            </a:r>
          </a:p>
        </p:txBody>
      </p:sp>
      <p:pic>
        <p:nvPicPr>
          <p:cNvPr id="28" name="Picture 27" descr="selo-c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" y="6263640"/>
            <a:ext cx="502920" cy="502920"/>
          </a:xfrm>
          <a:prstGeom prst="rect">
            <a:avLst/>
          </a:prstGeom>
        </p:spPr>
      </p:pic>
      <p:pic>
        <p:nvPicPr>
          <p:cNvPr id="29" name="Picture 28" descr="selo-sca-90-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4570" y="6263640"/>
            <a:ext cx="502920" cy="502920"/>
          </a:xfrm>
          <a:prstGeom prst="rect">
            <a:avLst/>
          </a:prstGeom>
        </p:spPr>
      </p:pic>
      <p:pic>
        <p:nvPicPr>
          <p:cNvPr id="30" name="Picture 29" descr="selo-organico-fazend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1870" y="6263640"/>
            <a:ext cx="502920" cy="502920"/>
          </a:xfrm>
          <a:prstGeom prst="rect">
            <a:avLst/>
          </a:prstGeom>
        </p:spPr>
      </p:pic>
      <p:pic>
        <p:nvPicPr>
          <p:cNvPr id="31" name="Picture 30" descr="selo-brasi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9170" y="626364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400">
                <a:solidFill>
                  <a:srgbClr val="8A7342"/>
                </a:solidFill>
                <a:latin typeface="Inter"/>
              </a:rPr>
              <a:t>ZERBINATTI  ·  BRAND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029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1">
                <a:solidFill>
                  <a:srgbClr val="C9A961"/>
                </a:solidFill>
                <a:latin typeface="Cormorant Garamond"/>
              </a:rPr>
              <a:t>Famiglia · since 1897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500">
                <a:solidFill>
                  <a:srgbClr val="C9A961"/>
                </a:solidFill>
                <a:latin typeface="Inter"/>
              </a:rPr>
              <a:t>— VALIM FARMS  ·  TERROIR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943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 i="1">
                <a:solidFill>
                  <a:srgbClr val="ECECEC"/>
                </a:solidFill>
                <a:latin typeface="Cormorant Garamond"/>
              </a:rPr>
              <a:t>One farm.</a:t>
            </a:r>
          </a:p>
          <a:p>
            <a:pPr algn="l">
              <a:lnSpc>
                <a:spcPct val="105000"/>
              </a:lnSpc>
            </a:pPr>
            <a:r>
              <a:rPr sz="4400" b="0" i="1">
                <a:solidFill>
                  <a:srgbClr val="ECECEC"/>
                </a:solidFill>
                <a:latin typeface="Cormorant Garamond"/>
              </a:rPr>
              <a:t>A whole climate.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691640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ECECEC"/>
                </a:solidFill>
                <a:latin typeface="Inter"/>
              </a:rPr>
              <a:t>Valim Farms sits on natural terraces between 640 and 760 meters, with deep volcanic soil, dry winters and a long, slow ripening window. Two Arabica varieties — Arara and Paraíso 2 — are planted by hand and harvested only when the cherry is fully ripe.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3108960"/>
            <a:ext cx="10908792" cy="0"/>
          </a:xfrm>
          <a:prstGeom prst="line">
            <a:avLst/>
          </a:prstGeom>
          <a:ln w="6350">
            <a:solidFill>
              <a:srgbClr val="8A7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crop-s4-photo-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383280"/>
            <a:ext cx="3840480" cy="2926080"/>
          </a:xfrm>
          <a:prstGeom prst="rect">
            <a:avLst/>
          </a:prstGeom>
        </p:spPr>
      </p:pic>
      <p:pic>
        <p:nvPicPr>
          <p:cNvPr id="10" name="Picture 9" descr="crop-s4-photo-b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383280"/>
            <a:ext cx="3200400" cy="1417320"/>
          </a:xfrm>
          <a:prstGeom prst="rect">
            <a:avLst/>
          </a:prstGeom>
        </p:spPr>
      </p:pic>
      <p:pic>
        <p:nvPicPr>
          <p:cNvPr id="11" name="Picture 10" descr="crop-s4-photo-b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892040"/>
            <a:ext cx="320040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955279" y="3383280"/>
            <a:ext cx="3593592" cy="2926080"/>
          </a:xfrm>
          <a:prstGeom prst="rect">
            <a:avLst/>
          </a:prstGeom>
          <a:solidFill>
            <a:srgbClr val="0A0A0A"/>
          </a:solidFill>
          <a:ln w="6350">
            <a:solidFill>
              <a:srgbClr val="8A7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36118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ECECEC"/>
                </a:solidFill>
                <a:latin typeface="Cormorant Garamond"/>
              </a:rPr>
              <a:t>The terroir.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16052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ECECEC"/>
                </a:solidFill>
                <a:latin typeface="Inter"/>
              </a:rPr>
              <a:t>Volcanic soil, terraced slopes, cool mornings, dry winters. The land does most of the work — we just stay out of its way.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83879" y="5349240"/>
            <a:ext cx="3108960" cy="0"/>
          </a:xfrm>
          <a:prstGeom prst="line">
            <a:avLst/>
          </a:prstGeom>
          <a:ln w="6350">
            <a:solidFill>
              <a:srgbClr val="8A7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83879" y="553212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9A961"/>
                </a:solidFill>
                <a:latin typeface="Cormorant Garamond"/>
              </a:rPr>
              <a:t>760m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58521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8A7342"/>
                </a:solidFill>
                <a:latin typeface="Inter"/>
              </a:rPr>
              <a:t>PEAK ALTITUDE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553212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9A961"/>
                </a:solidFill>
                <a:latin typeface="Cormorant Garamond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58521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8A7342"/>
                </a:solidFill>
                <a:latin typeface="Inter"/>
              </a:rPr>
              <a:t>VARIETIES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598932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9A961"/>
                </a:solidFill>
                <a:latin typeface="Cormorant Garamond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63093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8A7342"/>
                </a:solidFill>
                <a:latin typeface="Inter"/>
              </a:rPr>
              <a:t>ARABICA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598932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9A961"/>
                </a:solidFill>
                <a:latin typeface="Cormorant Garamond"/>
              </a:rPr>
              <a:t>May-Sep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63093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 spc="400">
                <a:solidFill>
                  <a:srgbClr val="8A7342"/>
                </a:solidFill>
                <a:latin typeface="Inter"/>
              </a:rPr>
              <a:t>HARVEST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500">
                <a:solidFill>
                  <a:srgbClr val="C9A961"/>
                </a:solidFill>
                <a:latin typeface="Inter"/>
              </a:rPr>
              <a:t>— THE COFFEE ALREADY CROSSES OCEANS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0" i="1">
                <a:solidFill>
                  <a:srgbClr val="ECECEC"/>
                </a:solidFill>
                <a:latin typeface="Cormorant Garamond"/>
              </a:rPr>
              <a:t>Three flags today.</a:t>
            </a:r>
          </a:p>
          <a:p>
            <a:pPr algn="l">
              <a:lnSpc>
                <a:spcPct val="110000"/>
              </a:lnSpc>
            </a:pPr>
            <a:r>
              <a:rPr sz="4200" b="0" i="1">
                <a:solidFill>
                  <a:srgbClr val="ECECEC"/>
                </a:solidFill>
                <a:latin typeface="Cormorant Garamond"/>
              </a:rPr>
              <a:t>The dream is Oregon.</a:t>
            </a:r>
          </a:p>
        </p:txBody>
      </p:sp>
      <p:pic>
        <p:nvPicPr>
          <p:cNvPr id="5" name="Picture 4" descr="world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2560320"/>
            <a:ext cx="1051560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64008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500">
                <a:solidFill>
                  <a:srgbClr val="DDC8A0"/>
                </a:solidFill>
                <a:latin typeface="Inter"/>
              </a:rPr>
              <a:t>PRESENCE  ·  EXPANSION  ·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adial-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731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500">
                <a:solidFill>
                  <a:srgbClr val="C9A961"/>
                </a:solidFill>
                <a:latin typeface="Inter"/>
              </a:rPr>
              <a:t>— THE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0" i="1">
                <a:solidFill>
                  <a:srgbClr val="ECECEC"/>
                </a:solidFill>
                <a:latin typeface="Cormorant Garamond"/>
              </a:rPr>
              <a:t>The numbers</a:t>
            </a:r>
          </a:p>
          <a:p>
            <a:pPr algn="l">
              <a:lnSpc>
                <a:spcPct val="110000"/>
              </a:lnSpc>
            </a:pPr>
            <a:r>
              <a:rPr sz="4600" b="0" i="1">
                <a:solidFill>
                  <a:srgbClr val="ECECEC"/>
                </a:solidFill>
                <a:latin typeface="Cormorant Garamond"/>
              </a:rPr>
              <a:t>that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594360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0" b="0" i="1">
                <a:solidFill>
                  <a:srgbClr val="8A7342"/>
                </a:solidFill>
                <a:latin typeface="Cormorant Garamond"/>
              </a:rPr>
              <a:t>[ ___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864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500">
                <a:solidFill>
                  <a:srgbClr val="ECECEC"/>
                </a:solidFill>
                <a:latin typeface="Inter"/>
              </a:rPr>
              <a:t>BAGS /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978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DDC8A0"/>
                </a:solidFill>
                <a:latin typeface="Cormorant Garamond"/>
              </a:rPr>
              <a:t>2026 production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0" y="3383280"/>
            <a:ext cx="0" cy="2926080"/>
          </a:xfrm>
          <a:prstGeom prst="line">
            <a:avLst/>
          </a:prstGeom>
          <a:ln w="6350">
            <a:solidFill>
              <a:srgbClr val="8A73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0" y="338328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0" i="1">
                <a:solidFill>
                  <a:srgbClr val="C9A961"/>
                </a:solidFill>
                <a:latin typeface="Cormorant Garamond"/>
              </a:rPr>
              <a:t>20 CONTAINERS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C9A961"/>
                </a:solidFill>
                <a:latin typeface="Inter"/>
              </a:rPr>
              <a:t>SPAIN SHIPMENT ·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18795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DDC8A0"/>
                </a:solidFill>
                <a:latin typeface="Cormorant Garamond"/>
              </a:rPr>
              <a:t>Scheduled shipment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361688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0" i="1">
                <a:solidFill>
                  <a:srgbClr val="8A7342"/>
                </a:solidFill>
                <a:latin typeface="Cormorant Garamond"/>
              </a:rPr>
              <a:t>[ __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91032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C9A961"/>
                </a:solidFill>
                <a:latin typeface="Inter"/>
              </a:rPr>
              <a:t>SCAA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663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DDC8A0"/>
                </a:solidFill>
                <a:latin typeface="Cormorant Garamond"/>
              </a:rPr>
              <a:t>Cup rating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5340096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0" i="1">
                <a:solidFill>
                  <a:srgbClr val="C9A961"/>
                </a:solidFill>
                <a:latin typeface="Cormorant Garamond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88873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C9A961"/>
                </a:solidFill>
                <a:latin typeface="Inter"/>
              </a:rPr>
              <a:t>TRACEABLE MICROLOT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614476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DDC8A0"/>
                </a:solidFill>
                <a:latin typeface="Cormorant Garamond"/>
              </a:rPr>
              <a:t>Origin guaranteed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rying-yard-tre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99238"/>
            <a:ext cx="12191695" cy="196564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ad-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400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spc="500">
                <a:solidFill>
                  <a:srgbClr val="C9A961"/>
                </a:solidFill>
                <a:latin typeface="Inter"/>
              </a:rPr>
              <a:t>— MY NEXT DESTINATION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11612880" cy="3017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0" b="0" i="1">
                <a:solidFill>
                  <a:srgbClr val="C9A961"/>
                </a:solidFill>
                <a:latin typeface="Cormorant Garamond"/>
              </a:rPr>
              <a:t>United States.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5029200"/>
            <a:ext cx="3047695" cy="0"/>
          </a:xfrm>
          <a:prstGeom prst="line">
            <a:avLst/>
          </a:prstGeom>
          <a:ln w="12700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71600" y="5212080"/>
            <a:ext cx="94484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 i="1">
                <a:solidFill>
                  <a:srgbClr val="ECECEC"/>
                </a:solidFill>
                <a:latin typeface="Cormorant Garamond"/>
              </a:rPr>
              <a:t>I would stop exporting to Europe</a:t>
            </a:r>
          </a:p>
          <a:p>
            <a:pPr algn="ctr">
              <a:lnSpc>
                <a:spcPct val="125000"/>
              </a:lnSpc>
            </a:pPr>
            <a:r>
              <a:rPr sz="2800" b="0" i="1">
                <a:solidFill>
                  <a:srgbClr val="ECECEC"/>
                </a:solidFill>
                <a:latin typeface="Cormorant Garamond"/>
              </a:rPr>
              <a:t>to finally arrive 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44652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400">
                <a:solidFill>
                  <a:srgbClr val="DDC8A0"/>
                </a:solidFill>
                <a:latin typeface="Inter"/>
              </a:rPr>
              <a:t>WILSON LUIZ VALIM ZERBINATTI  ·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eneir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89651"/>
            <a:ext cx="12191695" cy="102373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362895" cy="2103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0" i="1">
                <a:solidFill>
                  <a:srgbClr val="ECECEC"/>
                </a:solidFill>
                <a:latin typeface="Cormorant Garamond"/>
              </a:rPr>
              <a:t>“The land teaches, the sun decides,</a:t>
            </a:r>
          </a:p>
          <a:p>
            <a:pPr algn="ctr">
              <a:lnSpc>
                <a:spcPct val="130000"/>
              </a:lnSpc>
            </a:pPr>
            <a:r>
              <a:rPr sz="3600" b="0" i="1">
                <a:solidFill>
                  <a:srgbClr val="ECECEC"/>
                </a:solidFill>
                <a:latin typeface="Cormorant Garamond"/>
              </a:rPr>
              <a:t>we just observe.”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0" y="3154680"/>
            <a:ext cx="2103120" cy="0"/>
          </a:xfrm>
          <a:prstGeom prst="line">
            <a:avLst/>
          </a:prstGeom>
          <a:ln w="9525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00800" y="3154680"/>
            <a:ext cx="2103120" cy="0"/>
          </a:xfrm>
          <a:prstGeom prst="line">
            <a:avLst/>
          </a:prstGeom>
          <a:ln w="9525">
            <a:solidFill>
              <a:srgbClr val="C9A9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iamond 7"/>
          <p:cNvSpPr/>
          <p:nvPr/>
        </p:nvSpPr>
        <p:spPr>
          <a:xfrm>
            <a:off x="6023152" y="3081528"/>
            <a:ext cx="146304" cy="146304"/>
          </a:xfrm>
          <a:prstGeom prst="diamond">
            <a:avLst/>
          </a:prstGeom>
          <a:solidFill>
            <a:srgbClr val="C9A961"/>
          </a:solidFill>
          <a:ln w="6350">
            <a:solidFill>
              <a:srgbClr val="C9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33832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 spc="500">
                <a:solidFill>
                  <a:srgbClr val="C9A961"/>
                </a:solidFill>
                <a:latin typeface="Inter"/>
              </a:rPr>
              <a:t>— WILSON LUIZ VALIM ZERBINATTI  ·  THIRD GENERATION</a:t>
            </a:r>
          </a:p>
        </p:txBody>
      </p:sp>
      <p:pic>
        <p:nvPicPr>
          <p:cNvPr id="10" name="Picture 9" descr="qr-zerbinat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727" y="4023360"/>
            <a:ext cx="1920240" cy="1920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61722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300">
                <a:solidFill>
                  <a:srgbClr val="DDC8A0"/>
                </a:solidFill>
                <a:latin typeface="Inter"/>
              </a:rPr>
              <a:t>@ZERBINATTICOFFEE  ·  ZERBINATTICOFFEE.COM</a:t>
            </a:r>
          </a:p>
        </p:txBody>
      </p:sp>
      <p:pic>
        <p:nvPicPr>
          <p:cNvPr id="12" name="Picture 11" descr="zerbinatti-wordmark-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655" y="6355080"/>
            <a:ext cx="109728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